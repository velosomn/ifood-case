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28600"/>
          </a:xfrm>
          <a:prstGeom prst="rect">
            <a:avLst/>
          </a:prstGeom>
          <a:solidFill>
            <a:srgbClr val="EA1D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EA1D2C"/>
                </a:solidFill>
                <a:latin typeface="Calibri"/>
              </a:rPr>
              <a:t>Case iFood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468880"/>
            <a:ext cx="107899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2B2B2B"/>
                </a:solidFill>
                <a:latin typeface="Calibri"/>
              </a:rPr>
              <a:t>O problema não é quanto se gasta em cupom.</a:t>
            </a:r>
          </a:p>
          <a:p>
            <a:pPr algn="l"/>
            <a:r>
              <a:rPr sz="3800" b="1">
                <a:solidFill>
                  <a:srgbClr val="2B2B2B"/>
                </a:solidFill>
                <a:latin typeface="Calibri"/>
              </a:rPr>
              <a:t>É para quem se manda.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38912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666666"/>
                </a:solidFill>
                <a:latin typeface="Calibri"/>
              </a:rPr>
              <a:t>Medimos o quanto cada envio realmente gera de venda nova — e descobrimos que</a:t>
            </a:r>
          </a:p>
          <a:p>
            <a:pPr algn="l"/>
            <a:r>
              <a:rPr sz="1700" b="0">
                <a:solidFill>
                  <a:srgbClr val="666666"/>
                </a:solidFill>
                <a:latin typeface="Calibri"/>
              </a:rPr>
              <a:t>9 em cada 10 clientes recebem a oferta errada.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94360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Calibri"/>
              </a:rPr>
              <a:t>17 mil clientes · 306 mil eventos · 76 mil envios em 6 campanhas · 30 dias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28600"/>
          </a:xfrm>
          <a:prstGeom prst="rect">
            <a:avLst/>
          </a:prstGeom>
          <a:solidFill>
            <a:srgbClr val="EA1D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EA1D2C"/>
                </a:solidFill>
                <a:latin typeface="Calibri"/>
              </a:rPr>
              <a:t>O problema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2B2B2B"/>
                </a:solidFill>
                <a:latin typeface="Calibri"/>
              </a:rPr>
              <a:t>Quase um terço do desconto sai do caixa sem gerar nada</a:t>
            </a:r>
          </a:p>
        </p:txBody>
      </p:sp>
      <p:pic>
        <p:nvPicPr>
          <p:cNvPr id="5" name="Picture 4" descr="10_funn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737360"/>
            <a:ext cx="6583680" cy="287456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406640" y="1828800"/>
            <a:ext cx="4389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EA1D2C"/>
                </a:solidFill>
                <a:latin typeface="Calibri"/>
              </a:rPr>
              <a:t>30% dos cupons são usados</a:t>
            </a:r>
          </a:p>
          <a:p>
            <a:pPr algn="l"/>
            <a:r>
              <a:rPr sz="2000" b="1">
                <a:solidFill>
                  <a:srgbClr val="EA1D2C"/>
                </a:solidFill>
                <a:latin typeface="Calibri"/>
              </a:rPr>
              <a:t>sem o cliente ter visto</a:t>
            </a:r>
          </a:p>
          <a:p>
            <a:pPr algn="l"/>
            <a:r>
              <a:rPr sz="2000" b="1">
                <a:solidFill>
                  <a:srgbClr val="EA1D2C"/>
                </a:solidFill>
                <a:latin typeface="Calibri"/>
              </a:rPr>
              <a:t>a oferta antes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06640" y="3291840"/>
            <a:ext cx="44805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2B2B2B"/>
                </a:solidFill>
                <a:latin typeface="Calibri"/>
              </a:rPr>
              <a:t>O cliente faz uma compra normal,</a:t>
            </a:r>
          </a:p>
          <a:p>
            <a:pPr algn="l"/>
            <a:r>
              <a:rPr sz="1500" b="0">
                <a:solidFill>
                  <a:srgbClr val="2B2B2B"/>
                </a:solidFill>
                <a:latin typeface="Calibri"/>
              </a:rPr>
              <a:t>atinge o valor mínimo sem saber</a:t>
            </a:r>
          </a:p>
          <a:p>
            <a:pPr algn="l"/>
            <a:r>
              <a:rPr sz="1500" b="0">
                <a:solidFill>
                  <a:srgbClr val="2B2B2B"/>
                </a:solidFill>
                <a:latin typeface="Calibri"/>
              </a:rPr>
              <a:t>que havia uma oferta — e o sistema</a:t>
            </a:r>
          </a:p>
          <a:p>
            <a:pPr algn="l"/>
            <a:r>
              <a:rPr sz="1500" b="0">
                <a:solidFill>
                  <a:srgbClr val="2B2B2B"/>
                </a:solidFill>
                <a:latin typeface="Calibri"/>
              </a:rPr>
              <a:t>desconta automaticamente.</a:t>
            </a:r>
          </a:p>
          <a:p>
            <a:pPr algn="l"/>
            <a:r>
              <a:rPr sz="1500" b="0">
                <a:solidFill>
                  <a:srgbClr val="2B2B2B"/>
                </a:solidFill>
                <a:latin typeface="Calibri"/>
              </a:rPr>
              <a:t/>
            </a:r>
          </a:p>
          <a:p>
            <a:pPr algn="l"/>
            <a:r>
              <a:rPr sz="1500" b="0">
                <a:solidFill>
                  <a:srgbClr val="2B2B2B"/>
                </a:solidFill>
                <a:latin typeface="Calibri"/>
              </a:rPr>
              <a:t>É uma venda que aconteceria de</a:t>
            </a:r>
          </a:p>
          <a:p>
            <a:pPr algn="l"/>
            <a:r>
              <a:rPr sz="1500" b="0">
                <a:solidFill>
                  <a:srgbClr val="2B2B2B"/>
                </a:solidFill>
                <a:latin typeface="Calibri"/>
              </a:rPr>
              <a:t>qualquer forma, só que mais barata</a:t>
            </a:r>
          </a:p>
          <a:p>
            <a:pPr algn="l"/>
            <a:r>
              <a:rPr sz="1500" b="0">
                <a:solidFill>
                  <a:srgbClr val="2B2B2B"/>
                </a:solidFill>
                <a:latin typeface="Calibri"/>
              </a:rPr>
              <a:t>para o cliente e mais cara</a:t>
            </a:r>
          </a:p>
          <a:p>
            <a:pPr algn="l"/>
            <a:r>
              <a:rPr sz="1500" b="0">
                <a:solidFill>
                  <a:srgbClr val="2B2B2B"/>
                </a:solidFill>
                <a:latin typeface="Calibri"/>
              </a:rPr>
              <a:t>para a empresa.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28600"/>
          </a:xfrm>
          <a:prstGeom prst="rect">
            <a:avLst/>
          </a:prstGeom>
          <a:solidFill>
            <a:srgbClr val="EA1D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EA1D2C"/>
                </a:solidFill>
                <a:latin typeface="Calibri"/>
              </a:rPr>
              <a:t>O que descobrimos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2B2B2B"/>
                </a:solidFill>
                <a:latin typeface="Calibri"/>
              </a:rPr>
              <a:t>Enviar compensa — mas o efeito depende muito da oferta</a:t>
            </a:r>
          </a:p>
        </p:txBody>
      </p:sp>
      <p:pic>
        <p:nvPicPr>
          <p:cNvPr id="5" name="Picture 4" descr="05_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828800"/>
            <a:ext cx="6217920" cy="340042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040880" y="1828800"/>
            <a:ext cx="4846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B2B2B"/>
                </a:solidFill>
                <a:latin typeface="Calibri"/>
              </a:rPr>
              <a:t>Como medimos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40880" y="2377440"/>
            <a:ext cx="484632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2B2B2B"/>
                </a:solidFill>
                <a:latin typeface="Calibri"/>
              </a:rPr>
              <a:t>Em cada campanha, 25% dos clientes</a:t>
            </a:r>
          </a:p>
          <a:p>
            <a:pPr algn="l"/>
            <a:r>
              <a:rPr sz="1500" b="0">
                <a:solidFill>
                  <a:srgbClr val="2B2B2B"/>
                </a:solidFill>
                <a:latin typeface="Calibri"/>
              </a:rPr>
              <a:t>não receberam nada. Esse grupo mostra</a:t>
            </a:r>
          </a:p>
          <a:p>
            <a:pPr algn="l"/>
            <a:r>
              <a:rPr sz="1500" b="0">
                <a:solidFill>
                  <a:srgbClr val="2B2B2B"/>
                </a:solidFill>
                <a:latin typeface="Calibri"/>
              </a:rPr>
              <a:t>o que teria acontecido sem o envio.</a:t>
            </a:r>
          </a:p>
          <a:p>
            <a:pPr algn="l"/>
            <a:r>
              <a:rPr sz="1500" b="0">
                <a:solidFill>
                  <a:srgbClr val="2B2B2B"/>
                </a:solidFill>
                <a:latin typeface="Calibri"/>
              </a:rPr>
              <a:t/>
            </a:r>
          </a:p>
          <a:p>
            <a:pPr algn="l"/>
            <a:r>
              <a:rPr sz="1500" b="0">
                <a:solidFill>
                  <a:srgbClr val="2B2B2B"/>
                </a:solidFill>
                <a:latin typeface="Calibri"/>
              </a:rPr>
              <a:t>A diferença entre os dois grupos é a</a:t>
            </a:r>
          </a:p>
          <a:p>
            <a:pPr algn="l"/>
            <a:r>
              <a:rPr sz="1500" b="0">
                <a:solidFill>
                  <a:srgbClr val="2B2B2B"/>
                </a:solidFill>
                <a:latin typeface="Calibri"/>
              </a:rPr>
              <a:t>venda que o envio causou.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40880" y="4389120"/>
            <a:ext cx="4846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E7D32"/>
                </a:solidFill>
                <a:latin typeface="Calibri"/>
              </a:rPr>
              <a:t>R$ 9,21 de venda nova</a:t>
            </a:r>
          </a:p>
          <a:p>
            <a:pPr algn="l"/>
            <a:r>
              <a:rPr sz="2200" b="1">
                <a:solidFill>
                  <a:srgbClr val="2E7D32"/>
                </a:solidFill>
                <a:latin typeface="Calibri"/>
              </a:rPr>
              <a:t>por cliente, em 7 dias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40880" y="5486400"/>
            <a:ext cx="4846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B2B2B"/>
                </a:solidFill>
                <a:latin typeface="Calibri"/>
              </a:rPr>
              <a:t>Já descontado o custo do cupom.</a:t>
            </a:r>
          </a:p>
          <a:p>
            <a:pPr algn="l"/>
            <a:r>
              <a:rPr sz="1400" b="0">
                <a:solidFill>
                  <a:srgbClr val="2B2B2B"/>
                </a:solidFill>
                <a:latin typeface="Calibri"/>
              </a:rPr>
              <a:t>Desconto rende 34% mais que BOGO.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28600"/>
          </a:xfrm>
          <a:prstGeom prst="rect">
            <a:avLst/>
          </a:prstGeom>
          <a:solidFill>
            <a:srgbClr val="EA1D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EA1D2C"/>
                </a:solidFill>
                <a:latin typeface="Calibri"/>
              </a:rPr>
              <a:t>A solução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2B2B2B"/>
                </a:solidFill>
                <a:latin typeface="Calibri"/>
              </a:rPr>
              <a:t>Dá para saber, antes de enviar, em quem a oferta faz diferença</a:t>
            </a:r>
          </a:p>
        </p:txBody>
      </p:sp>
      <p:pic>
        <p:nvPicPr>
          <p:cNvPr id="5" name="Picture 4" descr="08_policy_valid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828800"/>
            <a:ext cx="6217920" cy="297378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040880" y="1828800"/>
            <a:ext cx="4846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B2B2B"/>
                </a:solidFill>
                <a:latin typeface="Calibri"/>
              </a:rPr>
              <a:t>Testado em campanhas futuras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40880" y="2377440"/>
            <a:ext cx="484632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2B2B2B"/>
                </a:solidFill>
                <a:latin typeface="Calibri"/>
              </a:rPr>
              <a:t>O modelo ordena os clientes por</a:t>
            </a:r>
          </a:p>
          <a:p>
            <a:pPr algn="l"/>
            <a:r>
              <a:rPr sz="1500" b="0">
                <a:solidFill>
                  <a:srgbClr val="2B2B2B"/>
                </a:solidFill>
                <a:latin typeface="Calibri"/>
              </a:rPr>
              <a:t>quanto a oferta deve render em cada um.</a:t>
            </a:r>
          </a:p>
          <a:p>
            <a:pPr algn="l"/>
            <a:r>
              <a:rPr sz="1500" b="0">
                <a:solidFill>
                  <a:srgbClr val="2B2B2B"/>
                </a:solidFill>
                <a:latin typeface="Calibri"/>
              </a:rPr>
              <a:t/>
            </a:r>
          </a:p>
          <a:p>
            <a:pPr algn="l"/>
            <a:r>
              <a:rPr sz="1500" b="0">
                <a:solidFill>
                  <a:srgbClr val="2B2B2B"/>
                </a:solidFill>
                <a:latin typeface="Calibri"/>
              </a:rPr>
              <a:t>No grupo apontado como prioridade,</a:t>
            </a:r>
          </a:p>
          <a:p>
            <a:pPr algn="l"/>
            <a:r>
              <a:rPr sz="1500" b="0">
                <a:solidFill>
                  <a:srgbClr val="2B2B2B"/>
                </a:solidFill>
                <a:latin typeface="Calibri"/>
              </a:rPr>
              <a:t>o envio gerou R$ 21 por cliente.</a:t>
            </a:r>
          </a:p>
          <a:p>
            <a:pPr algn="l"/>
            <a:r>
              <a:rPr sz="1500" b="0">
                <a:solidFill>
                  <a:srgbClr val="2B2B2B"/>
                </a:solidFill>
                <a:latin typeface="Calibri"/>
              </a:rPr>
              <a:t>No último grupo, zero.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40880" y="4572000"/>
            <a:ext cx="4846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EA1D2C"/>
                </a:solidFill>
                <a:latin typeface="Calibri"/>
              </a:rPr>
              <a:t>Hoje, só 10% recebem</a:t>
            </a:r>
          </a:p>
          <a:p>
            <a:pPr algn="l"/>
            <a:r>
              <a:rPr sz="2000" b="1">
                <a:solidFill>
                  <a:srgbClr val="EA1D2C"/>
                </a:solidFill>
                <a:latin typeface="Calibri"/>
              </a:rPr>
              <a:t>a oferta certa para eles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40880" y="5669280"/>
            <a:ext cx="4846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B2B2B"/>
                </a:solidFill>
                <a:latin typeface="Calibri"/>
              </a:rPr>
              <a:t>O maior ganho não é enviar menos —</a:t>
            </a:r>
          </a:p>
          <a:p>
            <a:pPr algn="l"/>
            <a:r>
              <a:rPr sz="1400" b="0">
                <a:solidFill>
                  <a:srgbClr val="2B2B2B"/>
                </a:solidFill>
                <a:latin typeface="Calibri"/>
              </a:rPr>
              <a:t>é enviar melhor.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28600"/>
          </a:xfrm>
          <a:prstGeom prst="rect">
            <a:avLst/>
          </a:prstGeom>
          <a:solidFill>
            <a:srgbClr val="EA1D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EA1D2C"/>
                </a:solidFill>
                <a:latin typeface="Calibri"/>
              </a:rPr>
              <a:t>A conclusão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2B2B2B"/>
                </a:solidFill>
                <a:latin typeface="Calibri"/>
              </a:rPr>
              <a:t>Com o mesmo orçamento, 20% mais resultado</a:t>
            </a:r>
          </a:p>
        </p:txBody>
      </p:sp>
      <p:pic>
        <p:nvPicPr>
          <p:cNvPr id="5" name="Picture 4" descr="11_impacto_de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737360"/>
            <a:ext cx="5852160" cy="333123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583680" y="1691640"/>
            <a:ext cx="5303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2B2B2B"/>
                </a:solidFill>
                <a:latin typeface="Calibri"/>
              </a:rPr>
              <a:t>O que aprendemos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0" y="2240280"/>
            <a:ext cx="539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EA1D2C"/>
                </a:solidFill>
                <a:latin typeface="Calibri"/>
              </a:rPr>
              <a:t>1. Cupom funciona — mas não para todos.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0" y="2560320"/>
            <a:ext cx="53949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B2B2B"/>
                </a:solidFill>
                <a:latin typeface="Calibri"/>
              </a:rPr>
              <a:t>O efeito médio é positivo, porém vai de R$ 21</a:t>
            </a:r>
          </a:p>
          <a:p>
            <a:pPr algn="l"/>
            <a:r>
              <a:rPr sz="1300" b="0">
                <a:solidFill>
                  <a:srgbClr val="2B2B2B"/>
                </a:solidFill>
                <a:latin typeface="Calibri"/>
              </a:rPr>
              <a:t>a zero dependendo da pessoa.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0" y="3474720"/>
            <a:ext cx="539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EA1D2C"/>
                </a:solidFill>
                <a:latin typeface="Calibri"/>
              </a:rPr>
              <a:t>2. Medir “quem usou o cupom” engana.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3794760"/>
            <a:ext cx="53949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B2B2B"/>
                </a:solidFill>
                <a:latin typeface="Calibri"/>
              </a:rPr>
              <a:t>Quem gasta muito usa cupom de qualquer jeito.</a:t>
            </a:r>
          </a:p>
          <a:p>
            <a:pPr algn="l"/>
            <a:r>
              <a:rPr sz="1300" b="0">
                <a:solidFill>
                  <a:srgbClr val="2B2B2B"/>
                </a:solidFill>
                <a:latin typeface="Calibri"/>
              </a:rPr>
              <a:t>Só comparando com quem não recebeu dá</a:t>
            </a:r>
          </a:p>
          <a:p>
            <a:pPr algn="l"/>
            <a:r>
              <a:rPr sz="1300" b="0">
                <a:solidFill>
                  <a:srgbClr val="2B2B2B"/>
                </a:solidFill>
                <a:latin typeface="Calibri"/>
              </a:rPr>
              <a:t>para saber o que a oferta causou.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0" y="4709160"/>
            <a:ext cx="539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EA1D2C"/>
                </a:solidFill>
                <a:latin typeface="Calibri"/>
              </a:rPr>
              <a:t>3. O dinheiro está em acertar o alvo.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5029200"/>
            <a:ext cx="53949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B2B2B"/>
                </a:solidFill>
                <a:latin typeface="Calibri"/>
              </a:rPr>
              <a:t>Não em cortar envios: 90% recebem a oferta</a:t>
            </a:r>
          </a:p>
          <a:p>
            <a:pPr algn="l"/>
            <a:r>
              <a:rPr sz="1300" b="0">
                <a:solidFill>
                  <a:srgbClr val="2B2B2B"/>
                </a:solidFill>
                <a:latin typeface="Calibri"/>
              </a:rPr>
              <a:t>errada, e corrigir isso rende +20%.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5852160"/>
            <a:ext cx="5852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Calibri"/>
              </a:rPr>
              <a:t>Por 1 milhão de envios: de R$ 10,3M para R$ 12,3M. O ganho vem de uma</a:t>
            </a:r>
          </a:p>
          <a:p>
            <a:pPr algn="l"/>
            <a:r>
              <a:rPr sz="1200" b="0">
                <a:solidFill>
                  <a:srgbClr val="666666"/>
                </a:solidFill>
                <a:latin typeface="Calibri"/>
              </a:rPr>
              <a:t>diferença já medida nos dados — cupons de desconto rendem mais que BOGO.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0" y="5943600"/>
            <a:ext cx="5394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B2B2B"/>
                </a:solidFill>
                <a:latin typeface="Calibri"/>
              </a:rPr>
              <a:t>Próximo passo: teste A/B com grupo de controle.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